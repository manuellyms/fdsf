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354" r:id="rId6"/>
    <p:sldId id="355" r:id="rId7"/>
    <p:sldId id="356" r:id="rId8"/>
    <p:sldId id="357" r:id="rId9"/>
  </p:sldIdLst>
  <p:sldSz cx="24384000" cy="13716000"/>
  <p:notesSz cx="6797675" cy="992822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3D0"/>
    <a:srgbClr val="F2F2F2"/>
    <a:srgbClr val="3C7D22"/>
    <a:srgbClr val="3B7D23"/>
    <a:srgbClr val="FFFFFF"/>
    <a:srgbClr val="0000FF"/>
    <a:srgbClr val="828282"/>
    <a:srgbClr val="1E35A6"/>
    <a:srgbClr val="0066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B0DFA-7633-4BD5-87FA-6CE2F34202D3}" v="865" dt="2026-03-11T19:19:17.021"/>
    <p1510:client id="{CC451D17-3DA2-47AD-8843-51EBA970C4E7}" v="30" dt="2026-03-12T14:10:13.79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69F1C8A-0A48-49CE-B3AD-9B01DFE47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407D5A-5BE5-4FFC-B30D-463AA9C48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0CD63-9252-436D-995D-F9EC24A8DDD8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82F98D-D1DB-4051-99C1-4B839C174A57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9430091"/>
            <a:ext cx="6797675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0C2BDB-425B-4046-A638-A94EA0FEBE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FFEE2-32A1-4170-BBBD-B4B978BD8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4513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06357" y="4715907"/>
            <a:ext cx="4984962" cy="446770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92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Deixar claro critério para </a:t>
            </a:r>
            <a:r>
              <a:rPr lang="pt-BR" dirty="0" err="1"/>
              <a:t>permanecimento</a:t>
            </a:r>
            <a:r>
              <a:rPr lang="pt-BR" dirty="0"/>
              <a:t> dos integrantes no pilar</a:t>
            </a:r>
          </a:p>
        </p:txBody>
      </p:sp>
    </p:spTree>
    <p:extLst>
      <p:ext uri="{BB962C8B-B14F-4D97-AF65-F5344CB8AC3E}">
        <p14:creationId xmlns:p14="http://schemas.microsoft.com/office/powerpoint/2010/main" val="1914727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DD2F-A4CD-6ABB-A495-249C9FE6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DA5633-ACCB-BF5B-0656-3B2A396A3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CB998A-0F95-E08B-2ECC-4BF64B7E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08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0DF1-7577-4461-4F7E-77E31A40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F01BBD-F1F5-9938-B847-3C4687A55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21ED1E-5074-8C76-E897-A8011F549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2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7950206" y="1104906"/>
            <a:ext cx="17259303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3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3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2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759" indent="-558759">
              <a:spcBef>
                <a:spcPts val="4500"/>
              </a:spcBef>
              <a:defRPr sz="3800"/>
            </a:lvl1pPr>
            <a:lvl2pPr marL="1117516" indent="-558759">
              <a:spcBef>
                <a:spcPts val="4500"/>
              </a:spcBef>
              <a:defRPr sz="3800"/>
            </a:lvl2pPr>
            <a:lvl3pPr marL="1676275" indent="-558759">
              <a:spcBef>
                <a:spcPts val="4500"/>
              </a:spcBef>
              <a:defRPr sz="3800"/>
            </a:lvl3pPr>
            <a:lvl4pPr marL="2235032" indent="-558759">
              <a:spcBef>
                <a:spcPts val="4500"/>
              </a:spcBef>
              <a:defRPr sz="3800"/>
            </a:lvl4pPr>
            <a:lvl5pPr marL="2793791" indent="-558759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681346" y="7035800"/>
            <a:ext cx="8396679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304800" y="1130300"/>
            <a:ext cx="1720215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 txBox="1">
            <a:spLocks noGrp="1"/>
          </p:cNvSpPr>
          <p:nvPr>
            <p:ph type="body" sz="quarter" idx="13"/>
          </p:nvPr>
        </p:nvSpPr>
        <p:spPr>
          <a:xfrm>
            <a:off x="2387603" y="8953507"/>
            <a:ext cx="19621500" cy="59503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–Jaime Silveira</a:t>
            </a:r>
          </a:p>
        </p:txBody>
      </p:sp>
      <p:sp>
        <p:nvSpPr>
          <p:cNvPr id="94" name="“Digite uma citação aqui.”"/>
          <p:cNvSpPr txBox="1">
            <a:spLocks noGrp="1"/>
          </p:cNvSpPr>
          <p:nvPr>
            <p:ph type="body" sz="quarter" idx="14"/>
          </p:nvPr>
        </p:nvSpPr>
        <p:spPr>
          <a:xfrm>
            <a:off x="2387603" y="6069072"/>
            <a:ext cx="1962150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uma citação aqui.”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6695" y="13081004"/>
            <a:ext cx="59792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hf sldNum="0" hdr="0" ftr="0" dt="0"/>
  <p:txStyles>
    <p:titleStyle>
      <a:lvl1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4952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69904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4856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39811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4763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09715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4668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79620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4572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8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67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5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32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1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498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08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66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C5BC4B06-EE87-1EFA-38B2-7F52EB8D29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135" y="9232127"/>
            <a:ext cx="3673128" cy="1242735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9C19D96A-7223-4E22-D2AA-3693C8E0B553}"/>
              </a:ext>
            </a:extLst>
          </p:cNvPr>
          <p:cNvGrpSpPr/>
          <p:nvPr/>
        </p:nvGrpSpPr>
        <p:grpSpPr>
          <a:xfrm>
            <a:off x="3550117" y="4893835"/>
            <a:ext cx="17283783" cy="3343426"/>
            <a:chOff x="5963006" y="4893837"/>
            <a:chExt cx="17283783" cy="3343426"/>
          </a:xfrm>
        </p:grpSpPr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6CFB9B77-A7EC-EAD1-7A5D-5C17F828F946}"/>
                </a:ext>
              </a:extLst>
            </p:cNvPr>
            <p:cNvSpPr txBox="1"/>
            <p:nvPr/>
          </p:nvSpPr>
          <p:spPr>
            <a:xfrm>
              <a:off x="9865027" y="5282608"/>
              <a:ext cx="13381762" cy="2954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US" sz="9600" spc="-233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Montserrat Heavy"/>
                </a:rPr>
                <a:t>PILAR DE MANUTENÇÃO AUTÔNOMA</a:t>
              </a:r>
            </a:p>
          </p:txBody>
        </p:sp>
        <p:sp>
          <p:nvSpPr>
            <p:cNvPr id="8" name="TextBox 123">
              <a:extLst>
                <a:ext uri="{FF2B5EF4-FFF2-40B4-BE49-F238E27FC236}">
                  <a16:creationId xmlns:a16="http://schemas.microsoft.com/office/drawing/2014/main" id="{E83642ED-6993-8F75-2B66-490657467077}"/>
                </a:ext>
              </a:extLst>
            </p:cNvPr>
            <p:cNvSpPr txBox="1"/>
            <p:nvPr/>
          </p:nvSpPr>
          <p:spPr>
            <a:xfrm>
              <a:off x="5963006" y="4893837"/>
              <a:ext cx="6557240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0" algn="l">
                <a:lnSpc>
                  <a:spcPts val="3871"/>
                </a:lnSpc>
                <a:spcBef>
                  <a:spcPct val="0"/>
                </a:spcBef>
              </a:pPr>
              <a:r>
                <a:rPr lang="en-US" sz="3600" b="0">
                  <a:solidFill>
                    <a:srgbClr val="00B0F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Montserrat Medium"/>
                </a:rPr>
                <a:t>CONHEÇA NOSSO TIME</a:t>
              </a:r>
            </a:p>
          </p:txBody>
        </p:sp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D84213E-F578-F851-5E08-39CBC46360A5}"/>
                </a:ext>
              </a:extLst>
            </p:cNvPr>
            <p:cNvSpPr/>
            <p:nvPr/>
          </p:nvSpPr>
          <p:spPr>
            <a:xfrm flipV="1">
              <a:off x="11050977" y="5165178"/>
              <a:ext cx="4320000" cy="0"/>
            </a:xfrm>
            <a:prstGeom prst="line">
              <a:avLst/>
            </a:prstGeom>
            <a:ln w="38100" cap="rnd">
              <a:gradFill>
                <a:gsLst>
                  <a:gs pos="0">
                    <a:srgbClr val="24DEFF">
                      <a:alpha val="100000"/>
                    </a:srgbClr>
                  </a:gs>
                  <a:gs pos="100000">
                    <a:srgbClr val="0197B2">
                      <a:alpha val="10000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 sz="5625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35924007-1A52-87DC-054F-AC2E87F07A3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830008" y="48076"/>
            <a:ext cx="7553997" cy="582768"/>
          </a:xfrm>
          <a:prstGeom prst="rect">
            <a:avLst/>
          </a:prstGeom>
        </p:spPr>
      </p:pic>
      <p:sp>
        <p:nvSpPr>
          <p:cNvPr id="2" name="BJPseudoFooter">
            <a:extLst>
              <a:ext uri="{FF2B5EF4-FFF2-40B4-BE49-F238E27FC236}">
                <a16:creationId xmlns:a16="http://schemas.microsoft.com/office/drawing/2014/main" id="{97A7E661-54B8-186D-A2CF-CEF2BDCBE36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4001536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42F6ACA-C0A5-0BED-5E9B-43B315BEEB0E}"/>
              </a:ext>
            </a:extLst>
          </p:cNvPr>
          <p:cNvSpPr/>
          <p:nvPr/>
        </p:nvSpPr>
        <p:spPr>
          <a:xfrm>
            <a:off x="0" y="6782142"/>
            <a:ext cx="24384000" cy="69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defTabSz="825438"/>
            <a:endParaRPr lang="pt-BR" sz="3200" b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B20DE6C-2141-B975-A00E-691DBF5BB321}"/>
              </a:ext>
            </a:extLst>
          </p:cNvPr>
          <p:cNvSpPr txBox="1"/>
          <p:nvPr/>
        </p:nvSpPr>
        <p:spPr>
          <a:xfrm>
            <a:off x="1511765" y="1716979"/>
            <a:ext cx="6336393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Heavy"/>
              </a:rPr>
              <a:t>ORGANOGRAMA</a:t>
            </a:r>
          </a:p>
          <a:p>
            <a:pPr algn="l"/>
            <a:r>
              <a:rPr lang="en-US"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Heavy"/>
              </a:rPr>
              <a:t>PILAR DE MANUTENÇÃO AUTÔNOMA</a:t>
            </a:r>
          </a:p>
        </p:txBody>
      </p:sp>
      <p:sp>
        <p:nvSpPr>
          <p:cNvPr id="12" name="TextBox 123">
            <a:extLst>
              <a:ext uri="{FF2B5EF4-FFF2-40B4-BE49-F238E27FC236}">
                <a16:creationId xmlns:a16="http://schemas.microsoft.com/office/drawing/2014/main" id="{400AD1C9-FB72-0088-4C13-EF1702F898BF}"/>
              </a:ext>
            </a:extLst>
          </p:cNvPr>
          <p:cNvSpPr txBox="1"/>
          <p:nvPr/>
        </p:nvSpPr>
        <p:spPr>
          <a:xfrm>
            <a:off x="538127" y="603191"/>
            <a:ext cx="4238128" cy="46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2764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CONHEÇA NOSSO TIME</a:t>
            </a: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A4F6BAA5-0458-F8C8-C097-D0950BD2EEE2}"/>
              </a:ext>
            </a:extLst>
          </p:cNvPr>
          <p:cNvSpPr/>
          <p:nvPr/>
        </p:nvSpPr>
        <p:spPr>
          <a:xfrm flipV="1">
            <a:off x="4518269" y="868089"/>
            <a:ext cx="2105395" cy="0"/>
          </a:xfrm>
          <a:prstGeom prst="line">
            <a:avLst/>
          </a:prstGeom>
          <a:ln w="38100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grpSp>
        <p:nvGrpSpPr>
          <p:cNvPr id="367" name="Agrupar 366">
            <a:extLst>
              <a:ext uri="{FF2B5EF4-FFF2-40B4-BE49-F238E27FC236}">
                <a16:creationId xmlns:a16="http://schemas.microsoft.com/office/drawing/2014/main" id="{0F248249-06BD-06C2-B11D-B904942B5081}"/>
              </a:ext>
            </a:extLst>
          </p:cNvPr>
          <p:cNvGrpSpPr/>
          <p:nvPr/>
        </p:nvGrpSpPr>
        <p:grpSpPr>
          <a:xfrm>
            <a:off x="10585427" y="469963"/>
            <a:ext cx="3171759" cy="1048467"/>
            <a:chOff x="10606121" y="2582176"/>
            <a:chExt cx="3171758" cy="1048466"/>
          </a:xfrm>
        </p:grpSpPr>
        <p:grpSp>
          <p:nvGrpSpPr>
            <p:cNvPr id="368" name="Group 21">
              <a:extLst>
                <a:ext uri="{FF2B5EF4-FFF2-40B4-BE49-F238E27FC236}">
                  <a16:creationId xmlns:a16="http://schemas.microsoft.com/office/drawing/2014/main" id="{4332874F-D21F-2500-647E-DB4CC2589DCE}"/>
                </a:ext>
              </a:extLst>
            </p:cNvPr>
            <p:cNvGrpSpPr/>
            <p:nvPr/>
          </p:nvGrpSpPr>
          <p:grpSpPr>
            <a:xfrm>
              <a:off x="10606121" y="2582176"/>
              <a:ext cx="3171758" cy="1048466"/>
              <a:chOff x="0" y="0"/>
              <a:chExt cx="626520" cy="207104"/>
            </a:xfrm>
          </p:grpSpPr>
          <p:sp>
            <p:nvSpPr>
              <p:cNvPr id="373" name="Freeform 22">
                <a:extLst>
                  <a:ext uri="{FF2B5EF4-FFF2-40B4-BE49-F238E27FC236}">
                    <a16:creationId xmlns:a16="http://schemas.microsoft.com/office/drawing/2014/main" id="{A30D9488-65A3-1796-76B9-2FCA85E91F45}"/>
                  </a:ext>
                </a:extLst>
              </p:cNvPr>
              <p:cNvSpPr/>
              <p:nvPr/>
            </p:nvSpPr>
            <p:spPr>
              <a:xfrm>
                <a:off x="0" y="0"/>
                <a:ext cx="626520" cy="207104"/>
              </a:xfrm>
              <a:custGeom>
                <a:avLst/>
                <a:gdLst/>
                <a:ahLst/>
                <a:cxnLst/>
                <a:rect l="l" t="t" r="r" b="b"/>
                <a:pathLst>
                  <a:path w="626520" h="207104">
                    <a:moveTo>
                      <a:pt x="50343" y="0"/>
                    </a:moveTo>
                    <a:lnTo>
                      <a:pt x="576177" y="0"/>
                    </a:lnTo>
                    <a:cubicBezTo>
                      <a:pt x="603981" y="0"/>
                      <a:pt x="626520" y="22540"/>
                      <a:pt x="626520" y="50343"/>
                    </a:cubicBezTo>
                    <a:lnTo>
                      <a:pt x="626520" y="156761"/>
                    </a:lnTo>
                    <a:cubicBezTo>
                      <a:pt x="626520" y="184565"/>
                      <a:pt x="603981" y="207104"/>
                      <a:pt x="576177" y="207104"/>
                    </a:cubicBezTo>
                    <a:lnTo>
                      <a:pt x="50343" y="207104"/>
                    </a:lnTo>
                    <a:cubicBezTo>
                      <a:pt x="22540" y="207104"/>
                      <a:pt x="0" y="184565"/>
                      <a:pt x="0" y="156761"/>
                    </a:cubicBezTo>
                    <a:lnTo>
                      <a:pt x="0" y="50343"/>
                    </a:lnTo>
                    <a:cubicBezTo>
                      <a:pt x="0" y="22540"/>
                      <a:pt x="22540" y="0"/>
                      <a:pt x="50343" y="0"/>
                    </a:cubicBezTo>
                    <a:close/>
                  </a:path>
                </a:pathLst>
              </a:custGeom>
              <a:solidFill>
                <a:srgbClr val="152B7C"/>
              </a:solidFill>
            </p:spPr>
            <p:txBody>
              <a:bodyPr/>
              <a:lstStyle/>
              <a:p>
                <a:endParaRPr lang="pt-BR" sz="5625"/>
              </a:p>
            </p:txBody>
          </p:sp>
          <p:sp>
            <p:nvSpPr>
              <p:cNvPr id="374" name="TextBox 23">
                <a:extLst>
                  <a:ext uri="{FF2B5EF4-FFF2-40B4-BE49-F238E27FC236}">
                    <a16:creationId xmlns:a16="http://schemas.microsoft.com/office/drawing/2014/main" id="{FF387F98-28C4-AB4A-0569-AA5B9644AE0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626520" cy="235679"/>
              </a:xfrm>
              <a:prstGeom prst="rect">
                <a:avLst/>
              </a:prstGeom>
            </p:spPr>
            <p:txBody>
              <a:bodyPr lIns="95251" tIns="95251" rIns="95251" bIns="95251" rtlCol="0" anchor="ctr"/>
              <a:lstStyle/>
              <a:p>
                <a:pPr>
                  <a:lnSpc>
                    <a:spcPts val="3148"/>
                  </a:lnSpc>
                </a:pPr>
                <a:endParaRPr sz="5625"/>
              </a:p>
            </p:txBody>
          </p:sp>
        </p:grpSp>
        <p:sp>
          <p:nvSpPr>
            <p:cNvPr id="370" name="TextBox 132">
              <a:extLst>
                <a:ext uri="{FF2B5EF4-FFF2-40B4-BE49-F238E27FC236}">
                  <a16:creationId xmlns:a16="http://schemas.microsoft.com/office/drawing/2014/main" id="{3044DE5C-D44F-F527-AC23-57863B1C532F}"/>
                </a:ext>
              </a:extLst>
            </p:cNvPr>
            <p:cNvSpPr txBox="1"/>
            <p:nvPr/>
          </p:nvSpPr>
          <p:spPr>
            <a:xfrm>
              <a:off x="11067711" y="2711254"/>
              <a:ext cx="2248577" cy="3362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623"/>
                </a:lnSpc>
                <a:spcBef>
                  <a:spcPct val="0"/>
                </a:spcBef>
              </a:pPr>
              <a:r>
                <a:rPr lang="en-US" sz="2400" spc="-88">
                  <a:solidFill>
                    <a:schemeClr val="bg1"/>
                  </a:solidFill>
                  <a:latin typeface="Poppins Bold"/>
                  <a:cs typeface="Poppins Bold"/>
                </a:rPr>
                <a:t>Kenzo Yano</a:t>
              </a:r>
            </a:p>
          </p:txBody>
        </p:sp>
        <p:sp>
          <p:nvSpPr>
            <p:cNvPr id="371" name="TextBox 133">
              <a:extLst>
                <a:ext uri="{FF2B5EF4-FFF2-40B4-BE49-F238E27FC236}">
                  <a16:creationId xmlns:a16="http://schemas.microsoft.com/office/drawing/2014/main" id="{56D8C920-CF31-F490-61A3-D610F495D599}"/>
                </a:ext>
              </a:extLst>
            </p:cNvPr>
            <p:cNvSpPr txBox="1"/>
            <p:nvPr/>
          </p:nvSpPr>
          <p:spPr>
            <a:xfrm>
              <a:off x="11070881" y="3151787"/>
              <a:ext cx="2242237" cy="2914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63"/>
                </a:lnSpc>
                <a:spcBef>
                  <a:spcPct val="0"/>
                </a:spcBef>
              </a:pPr>
              <a:r>
                <a:rPr lang="en-US" sz="168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OWNER</a:t>
              </a:r>
            </a:p>
          </p:txBody>
        </p:sp>
      </p:grpSp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F327EE9C-0C74-55D5-972B-AE0CD37D7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787" y="527735"/>
            <a:ext cx="2434287" cy="823596"/>
          </a:xfrm>
          <a:prstGeom prst="rect">
            <a:avLst/>
          </a:prstGeom>
        </p:spPr>
      </p:pic>
      <p:sp>
        <p:nvSpPr>
          <p:cNvPr id="380" name="Retângulo: Cantos Arredondados 379">
            <a:extLst>
              <a:ext uri="{FF2B5EF4-FFF2-40B4-BE49-F238E27FC236}">
                <a16:creationId xmlns:a16="http://schemas.microsoft.com/office/drawing/2014/main" id="{3A6175DA-52F0-8EE2-11EC-C62F20E9DAC4}"/>
              </a:ext>
            </a:extLst>
          </p:cNvPr>
          <p:cNvSpPr/>
          <p:nvPr/>
        </p:nvSpPr>
        <p:spPr>
          <a:xfrm>
            <a:off x="1511765" y="6005984"/>
            <a:ext cx="3006504" cy="306467"/>
          </a:xfrm>
          <a:prstGeom prst="roundRect">
            <a:avLst/>
          </a:prstGeom>
          <a:solidFill>
            <a:schemeClr val="bg1"/>
          </a:solidFill>
          <a:ln w="381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lvl="2" indent="0"/>
            <a:r>
              <a:rPr lang="pt-BR" sz="1800" i="1">
                <a:solidFill>
                  <a:sysClr val="windowText" lastClr="000000"/>
                </a:solidFill>
                <a:latin typeface="+mn-lt"/>
                <a:ea typeface="+mn-ea"/>
                <a:cs typeface="+mn-cs"/>
                <a:sym typeface="Helvetica Neue Medium"/>
              </a:rPr>
              <a:t>Atualizado em: 23/01/2026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C300771-22EA-401D-C8D5-D3ECD01D8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80308"/>
              </p:ext>
            </p:extLst>
          </p:nvPr>
        </p:nvGraphicFramePr>
        <p:xfrm>
          <a:off x="447389" y="7108656"/>
          <a:ext cx="23603458" cy="6282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9992">
                  <a:extLst>
                    <a:ext uri="{9D8B030D-6E8A-4147-A177-3AD203B41FA5}">
                      <a16:colId xmlns:a16="http://schemas.microsoft.com/office/drawing/2014/main" val="1541543336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1615597291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3723042862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1984869943"/>
                    </a:ext>
                  </a:extLst>
                </a:gridCol>
                <a:gridCol w="3949443">
                  <a:extLst>
                    <a:ext uri="{9D8B030D-6E8A-4147-A177-3AD203B41FA5}">
                      <a16:colId xmlns:a16="http://schemas.microsoft.com/office/drawing/2014/main" val="355073308"/>
                    </a:ext>
                  </a:extLst>
                </a:gridCol>
                <a:gridCol w="3934047">
                  <a:extLst>
                    <a:ext uri="{9D8B030D-6E8A-4147-A177-3AD203B41FA5}">
                      <a16:colId xmlns:a16="http://schemas.microsoft.com/office/drawing/2014/main" val="2266286932"/>
                    </a:ext>
                  </a:extLst>
                </a:gridCol>
              </a:tblGrid>
              <a:tr h="732929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dirty="0">
                          <a:solidFill>
                            <a:schemeClr val="bg1"/>
                          </a:solidFill>
                        </a:rPr>
                        <a:t>José Otacílio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Thais Farias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Vinícius Gato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dirty="0">
                          <a:solidFill>
                            <a:schemeClr val="bg1"/>
                          </a:solidFill>
                        </a:rPr>
                        <a:t>Geovanne Augusto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Francirley Batista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Eduardo Castro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87013"/>
                  </a:ext>
                </a:extLst>
              </a:tr>
              <a:tr h="697075"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Usinagem </a:t>
                      </a:r>
                      <a:r>
                        <a:rPr lang="pt-BR" sz="1900" b="1" i="1" err="1">
                          <a:solidFill>
                            <a:srgbClr val="152B7C"/>
                          </a:solidFill>
                        </a:rPr>
                        <a:t>Ferr</a:t>
                      </a:r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Montagem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Pintura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Solda &amp; Estamparia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Manutenção YMDA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Manutenção YMCDA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590212"/>
                  </a:ext>
                </a:extLst>
              </a:tr>
              <a:tr h="4852038"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Integrar as práticas de Manutenção Autônoma (MA) e Manutenção </a:t>
                      </a:r>
                      <a:r>
                        <a:rPr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Planejada </a:t>
                      </a: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(MP).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técnico entre padrões do MA e critérios de intervenção da MP.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Integrar as práticas de Manutenção Autônoma (MA) e Manutenção </a:t>
                      </a:r>
                      <a:r>
                        <a:rPr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Planejada </a:t>
                      </a: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(MP).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técnico entre padrões do MA e critérios de intervenção da MP.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810031"/>
                  </a:ext>
                </a:extLst>
              </a:tr>
            </a:tbl>
          </a:graphicData>
        </a:graphic>
      </p:graphicFrame>
      <p:sp>
        <p:nvSpPr>
          <p:cNvPr id="37" name="AutoShape 15">
            <a:extLst>
              <a:ext uri="{FF2B5EF4-FFF2-40B4-BE49-F238E27FC236}">
                <a16:creationId xmlns:a16="http://schemas.microsoft.com/office/drawing/2014/main" id="{F7640763-302B-FE78-501D-A68EED74CA93}"/>
              </a:ext>
            </a:extLst>
          </p:cNvPr>
          <p:cNvSpPr/>
          <p:nvPr/>
        </p:nvSpPr>
        <p:spPr>
          <a:xfrm>
            <a:off x="12191998" y="1513434"/>
            <a:ext cx="1" cy="667969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B9ED7FC-1AFE-5F2B-4C52-6D7483B5E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89544"/>
              </p:ext>
            </p:extLst>
          </p:nvPr>
        </p:nvGraphicFramePr>
        <p:xfrm>
          <a:off x="9272506" y="2181403"/>
          <a:ext cx="5838985" cy="2528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38985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</a:tblGrid>
              <a:tr h="5826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Salvador Filho</a:t>
                      </a:r>
                      <a:endParaRPr lang="pt-BR"/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0">
                      <a:noFill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485533">
                <a:tc>
                  <a:txBody>
                    <a:bodyPr/>
                    <a:lstStyle/>
                    <a:p>
                      <a:pPr algn="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Coordenador de Pilar/Representante Power </a:t>
                      </a:r>
                      <a:r>
                        <a:rPr lang="pt-BR" sz="1900" b="1" i="1" err="1">
                          <a:solidFill>
                            <a:srgbClr val="152B7C"/>
                          </a:solidFill>
                        </a:rPr>
                        <a:t>Train</a:t>
                      </a:r>
                      <a:endParaRPr lang="pt-BR" sz="1900" b="1" i="1">
                        <a:solidFill>
                          <a:srgbClr val="152B7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34925"/>
                  </a:ext>
                </a:extLst>
              </a:tr>
              <a:tr h="1460448">
                <a:tc>
                  <a:txBody>
                    <a:bodyPr/>
                    <a:lstStyle/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Gerir a governança do Pilar de Manutenção Autônoma.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Definir, revisar e publicar as diretrizes e documentos do Pilar</a:t>
                      </a:r>
                      <a:r>
                        <a:rPr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600" b="0" i="0" u="none" strike="noStrike" cap="none" spc="-13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Acompanhar indicadores e auditorias do Pilar.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e atuação dos representantes das áreas.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75472"/>
                  </a:ext>
                </a:extLst>
              </a:tr>
            </a:tbl>
          </a:graphicData>
        </a:graphic>
      </p:graphicFrame>
      <p:graphicFrame>
        <p:nvGraphicFramePr>
          <p:cNvPr id="364" name="Tabela 363">
            <a:extLst>
              <a:ext uri="{FF2B5EF4-FFF2-40B4-BE49-F238E27FC236}">
                <a16:creationId xmlns:a16="http://schemas.microsoft.com/office/drawing/2014/main" id="{45DC6066-FC5B-8859-8327-02D64C27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03471"/>
              </p:ext>
            </p:extLst>
          </p:nvPr>
        </p:nvGraphicFramePr>
        <p:xfrm>
          <a:off x="16374148" y="4720857"/>
          <a:ext cx="7562462" cy="17553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2462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</a:tblGrid>
              <a:tr h="390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800" b="1" i="0" dirty="0">
                          <a:solidFill>
                            <a:schemeClr val="bg1"/>
                          </a:solidFill>
                        </a:rPr>
                        <a:t>Matheus Batista / Gilberto Alves / Manuelly Morais / Matheus Moura</a:t>
                      </a:r>
                      <a:endParaRPr lang="pt-BR" sz="1800" dirty="0"/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0">
                      <a:noFill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pPr algn="r"/>
                      <a:r>
                        <a:rPr lang="pt-BR" sz="1600" b="1" i="1" dirty="0">
                          <a:solidFill>
                            <a:srgbClr val="152B7C"/>
                          </a:solidFill>
                        </a:rPr>
                        <a:t>Secretaria – Excelência Operacional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34925"/>
                  </a:ext>
                </a:extLst>
              </a:tr>
              <a:tr h="1007718">
                <a:tc>
                  <a:txBody>
                    <a:bodyPr/>
                    <a:lstStyle/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Garantir a governança e a aderência do Pilar MA ao sistema de Excelência Operacional</a:t>
                      </a:r>
                      <a:r>
                        <a:rPr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4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Dar suporte metodológico quanto a aplicação da Manutenção Autônoma</a:t>
                      </a:r>
                      <a:r>
                        <a:rPr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4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Gerir calendário, registros e resultados das auditorias do Pilar.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Manter controle e disponibilização dos documentos oficiais.</a:t>
                      </a:r>
                      <a:endParaRPr kumimoji="0" lang="pt-BR" sz="16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Helvetica Neue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75472"/>
                  </a:ext>
                </a:extLst>
              </a:tr>
            </a:tbl>
          </a:graphicData>
        </a:graphic>
      </p:graphicFrame>
      <p:cxnSp>
        <p:nvCxnSpPr>
          <p:cNvPr id="396" name="Conector: Angulado 395">
            <a:extLst>
              <a:ext uri="{FF2B5EF4-FFF2-40B4-BE49-F238E27FC236}">
                <a16:creationId xmlns:a16="http://schemas.microsoft.com/office/drawing/2014/main" id="{AA20D39E-803A-3DC4-5721-DF4677A819D8}"/>
              </a:ext>
            </a:extLst>
          </p:cNvPr>
          <p:cNvCxnSpPr>
            <a:cxnSpLocks/>
            <a:stCxn id="10" idx="2"/>
            <a:endCxn id="364" idx="1"/>
          </p:cNvCxnSpPr>
          <p:nvPr/>
        </p:nvCxnSpPr>
        <p:spPr>
          <a:xfrm rot="16200000" flipH="1">
            <a:off x="13838812" y="3063209"/>
            <a:ext cx="888523" cy="4182150"/>
          </a:xfrm>
          <a:prstGeom prst="bentConnector2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402" name="AutoShape 15">
            <a:extLst>
              <a:ext uri="{FF2B5EF4-FFF2-40B4-BE49-F238E27FC236}">
                <a16:creationId xmlns:a16="http://schemas.microsoft.com/office/drawing/2014/main" id="{14FCBE77-EAA2-2934-CA21-9D2B37D9015F}"/>
              </a:ext>
            </a:extLst>
          </p:cNvPr>
          <p:cNvSpPr/>
          <p:nvPr/>
        </p:nvSpPr>
        <p:spPr>
          <a:xfrm flipH="1">
            <a:off x="12191998" y="4710023"/>
            <a:ext cx="0" cy="2355393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pic>
        <p:nvPicPr>
          <p:cNvPr id="760" name="Imagem 759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2A94381-7841-86BF-5C37-311C9FDF0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491" y="6965902"/>
            <a:ext cx="937207" cy="399639"/>
          </a:xfrm>
          <a:prstGeom prst="rect">
            <a:avLst/>
          </a:prstGeom>
        </p:spPr>
      </p:pic>
      <p:pic>
        <p:nvPicPr>
          <p:cNvPr id="761" name="Imagem 760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E90AB57-8125-F426-61B0-23985F80DA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671" y="6965902"/>
            <a:ext cx="937207" cy="399639"/>
          </a:xfrm>
          <a:prstGeom prst="rect">
            <a:avLst/>
          </a:prstGeom>
        </p:spPr>
      </p:pic>
      <p:sp>
        <p:nvSpPr>
          <p:cNvPr id="2" name="BJPseudoFooter">
            <a:extLst>
              <a:ext uri="{FF2B5EF4-FFF2-40B4-BE49-F238E27FC236}">
                <a16:creationId xmlns:a16="http://schemas.microsoft.com/office/drawing/2014/main" id="{B3071E38-998A-6B66-D758-C21AB864C4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778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1EF48-B1DD-5EA1-012C-33386A0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B305ED7-8434-AC4E-6DC5-A17130D88EA3}"/>
              </a:ext>
            </a:extLst>
          </p:cNvPr>
          <p:cNvSpPr/>
          <p:nvPr/>
        </p:nvSpPr>
        <p:spPr>
          <a:xfrm>
            <a:off x="-58994" y="4232878"/>
            <a:ext cx="24516735" cy="9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defTabSz="825438"/>
            <a:endParaRPr lang="pt-BR" sz="3200" b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TextBox 123">
            <a:extLst>
              <a:ext uri="{FF2B5EF4-FFF2-40B4-BE49-F238E27FC236}">
                <a16:creationId xmlns:a16="http://schemas.microsoft.com/office/drawing/2014/main" id="{D1AE2C03-06AD-0C6A-F350-AE62040916C8}"/>
              </a:ext>
            </a:extLst>
          </p:cNvPr>
          <p:cNvSpPr txBox="1"/>
          <p:nvPr/>
        </p:nvSpPr>
        <p:spPr>
          <a:xfrm>
            <a:off x="775477" y="792539"/>
            <a:ext cx="4238128" cy="5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VISÃO</a:t>
            </a:r>
          </a:p>
        </p:txBody>
      </p:sp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8D3C2B1A-FB22-C79E-A5CD-3762248248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056" y="223050"/>
            <a:ext cx="2434287" cy="82359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A7E6901-AE9B-8B1D-8986-B5A258A5B8F6}"/>
              </a:ext>
            </a:extLst>
          </p:cNvPr>
          <p:cNvSpPr txBox="1"/>
          <p:nvPr/>
        </p:nvSpPr>
        <p:spPr>
          <a:xfrm>
            <a:off x="13732591" y="1709348"/>
            <a:ext cx="1021193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sz="4000" dirty="0">
                <a:latin typeface="Roboto"/>
                <a:ea typeface="Roboto"/>
                <a:cs typeface="Roboto"/>
              </a:rPr>
              <a:t>Sustentar a metodologia de Manutenção Autônoma por meio de padrões, governança e integração ao Sistema de Excelência Operacional.</a:t>
            </a:r>
            <a:endParaRPr lang="pt-BR" sz="4000" dirty="0"/>
          </a:p>
        </p:txBody>
      </p:sp>
      <p:sp>
        <p:nvSpPr>
          <p:cNvPr id="24" name="TextBox 123">
            <a:extLst>
              <a:ext uri="{FF2B5EF4-FFF2-40B4-BE49-F238E27FC236}">
                <a16:creationId xmlns:a16="http://schemas.microsoft.com/office/drawing/2014/main" id="{3D4BAF29-08C8-39BF-C93F-A8A21491D8CC}"/>
              </a:ext>
            </a:extLst>
          </p:cNvPr>
          <p:cNvSpPr txBox="1"/>
          <p:nvPr/>
        </p:nvSpPr>
        <p:spPr>
          <a:xfrm>
            <a:off x="13732591" y="904687"/>
            <a:ext cx="4238128" cy="5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MISSÃO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B0E35F8-C7AB-F60C-C87A-852F84F4B5CE}"/>
              </a:ext>
            </a:extLst>
          </p:cNvPr>
          <p:cNvSpPr txBox="1"/>
          <p:nvPr/>
        </p:nvSpPr>
        <p:spPr>
          <a:xfrm>
            <a:off x="439479" y="1513888"/>
            <a:ext cx="12638797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sz="4000" dirty="0">
                <a:solidFill>
                  <a:schemeClr val="bg1"/>
                </a:solidFill>
              </a:rPr>
              <a:t>Alcançar, até 2027, </a:t>
            </a:r>
            <a:r>
              <a:rPr lang="pt-BR" sz="4000" dirty="0">
                <a:solidFill>
                  <a:srgbClr val="FF0000"/>
                </a:solidFill>
              </a:rPr>
              <a:t>a capacitação plena de todos os colaboradores na metodologia de </a:t>
            </a:r>
            <a:r>
              <a:rPr lang="pt-BR" sz="4000" dirty="0">
                <a:solidFill>
                  <a:schemeClr val="bg1"/>
                </a:solidFill>
              </a:rPr>
              <a:t>Manutenção Autônoma de buscando a estabilidade e confiabilidade dos processos produtivos.</a:t>
            </a:r>
          </a:p>
        </p:txBody>
      </p:sp>
      <p:sp>
        <p:nvSpPr>
          <p:cNvPr id="403" name="Rectangle 2">
            <a:extLst>
              <a:ext uri="{FF2B5EF4-FFF2-40B4-BE49-F238E27FC236}">
                <a16:creationId xmlns:a16="http://schemas.microsoft.com/office/drawing/2014/main" id="{DEA5AE6B-7D25-0DB6-D51E-4DE69CB4F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148" y="5637639"/>
            <a:ext cx="23481523" cy="7971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Pilar de Manutenção Autônoma atua na governança da metodologia, sendo a execução e aplicação de responsabilidade das áreas produtivas.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Cabe ao Pilar de Manutenção Autônoma  elaborar, definir, manter e atualizar os padrões e treinamentos de caráter metodológico, assegurando sua disponibilidade para aplicação consistente pelas áreas produtivas.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 representantes das áreas atuam como ponto focal  e suporte metodológico entre o Pilar e as áreas produtivas, sendo responsáveis por disseminar o método (sendo habilitados a multiplicar e formar multiplicadores), acompanhar sua aplicação na área e retroalimentar o Pilar, sem assumir a execução da Manutenção Autônoma.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Manutenção atua como elemento de integração técnica, assegurando o alinhamento entre Manutenção Autônoma e Manutenção Planejada.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cronograma de implementação da Manutenção Autônoma é definido pelas áreas produtivas; ao Pilar cabe orientar e avaliar a aderência metodológica desse cronograma, sinalizando riscos à sustentabilidade do método, sem assumir a gestão dos prazos.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Cabe ao Pilar de Manutenção Autônoma assegurar a validação metodológica para mudança de etapa e a devolutiva às áreas quanto aos critérios não atendidos.</a:t>
            </a:r>
          </a:p>
        </p:txBody>
      </p:sp>
      <p:sp>
        <p:nvSpPr>
          <p:cNvPr id="438" name="TextBox 123">
            <a:extLst>
              <a:ext uri="{FF2B5EF4-FFF2-40B4-BE49-F238E27FC236}">
                <a16:creationId xmlns:a16="http://schemas.microsoft.com/office/drawing/2014/main" id="{4AAE6558-0192-A211-F84C-8E78C04E81DF}"/>
              </a:ext>
            </a:extLst>
          </p:cNvPr>
          <p:cNvSpPr txBox="1"/>
          <p:nvPr/>
        </p:nvSpPr>
        <p:spPr>
          <a:xfrm>
            <a:off x="775477" y="4787082"/>
            <a:ext cx="4887904" cy="586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DIRETRIZES</a:t>
            </a:r>
          </a:p>
        </p:txBody>
      </p:sp>
      <p:sp>
        <p:nvSpPr>
          <p:cNvPr id="2" name="BJPseudoFooter">
            <a:extLst>
              <a:ext uri="{FF2B5EF4-FFF2-40B4-BE49-F238E27FC236}">
                <a16:creationId xmlns:a16="http://schemas.microsoft.com/office/drawing/2014/main" id="{F6F355B1-AE3F-4186-0548-5BF9055F53B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1507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00C2A-5B06-BD6C-753A-E8BC9E8A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E288CDDD-9911-F633-44B5-FDA496F209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787" y="527735"/>
            <a:ext cx="2434287" cy="823596"/>
          </a:xfrm>
          <a:prstGeom prst="rect">
            <a:avLst/>
          </a:prstGeom>
        </p:spPr>
      </p:pic>
      <p:sp>
        <p:nvSpPr>
          <p:cNvPr id="345" name="TextBox 123">
            <a:extLst>
              <a:ext uri="{FF2B5EF4-FFF2-40B4-BE49-F238E27FC236}">
                <a16:creationId xmlns:a16="http://schemas.microsoft.com/office/drawing/2014/main" id="{CA2D0EFB-4714-9A4D-A9CE-BB5050738BAE}"/>
              </a:ext>
            </a:extLst>
          </p:cNvPr>
          <p:cNvSpPr txBox="1"/>
          <p:nvPr/>
        </p:nvSpPr>
        <p:spPr>
          <a:xfrm>
            <a:off x="565926" y="936542"/>
            <a:ext cx="11626074" cy="586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INDICADORES</a:t>
            </a:r>
          </a:p>
        </p:txBody>
      </p:sp>
      <p:graphicFrame>
        <p:nvGraphicFramePr>
          <p:cNvPr id="346" name="Tabela 345">
            <a:extLst>
              <a:ext uri="{FF2B5EF4-FFF2-40B4-BE49-F238E27FC236}">
                <a16:creationId xmlns:a16="http://schemas.microsoft.com/office/drawing/2014/main" id="{CC3BA2AD-D115-7D03-1C6B-6B0FAA180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85024"/>
              </p:ext>
            </p:extLst>
          </p:nvPr>
        </p:nvGraphicFramePr>
        <p:xfrm>
          <a:off x="565926" y="2009290"/>
          <a:ext cx="23252149" cy="111424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2113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  <a:gridCol w="6135329">
                  <a:extLst>
                    <a:ext uri="{9D8B030D-6E8A-4147-A177-3AD203B41FA5}">
                      <a16:colId xmlns:a16="http://schemas.microsoft.com/office/drawing/2014/main" val="3072504300"/>
                    </a:ext>
                  </a:extLst>
                </a:gridCol>
                <a:gridCol w="5604387">
                  <a:extLst>
                    <a:ext uri="{9D8B030D-6E8A-4147-A177-3AD203B41FA5}">
                      <a16:colId xmlns:a16="http://schemas.microsoft.com/office/drawing/2014/main" val="2622799397"/>
                    </a:ext>
                  </a:extLst>
                </a:gridCol>
                <a:gridCol w="1786202">
                  <a:extLst>
                    <a:ext uri="{9D8B030D-6E8A-4147-A177-3AD203B41FA5}">
                      <a16:colId xmlns:a16="http://schemas.microsoft.com/office/drawing/2014/main" val="1686420396"/>
                    </a:ext>
                  </a:extLst>
                </a:gridCol>
                <a:gridCol w="2107842">
                  <a:extLst>
                    <a:ext uri="{9D8B030D-6E8A-4147-A177-3AD203B41FA5}">
                      <a16:colId xmlns:a16="http://schemas.microsoft.com/office/drawing/2014/main" val="3553288689"/>
                    </a:ext>
                  </a:extLst>
                </a:gridCol>
                <a:gridCol w="2020016">
                  <a:extLst>
                    <a:ext uri="{9D8B030D-6E8A-4147-A177-3AD203B41FA5}">
                      <a16:colId xmlns:a16="http://schemas.microsoft.com/office/drawing/2014/main" val="912212874"/>
                    </a:ext>
                  </a:extLst>
                </a:gridCol>
                <a:gridCol w="1946260">
                  <a:extLst>
                    <a:ext uri="{9D8B030D-6E8A-4147-A177-3AD203B41FA5}">
                      <a16:colId xmlns:a16="http://schemas.microsoft.com/office/drawing/2014/main" val="1591081998"/>
                    </a:ext>
                  </a:extLst>
                </a:gridCol>
              </a:tblGrid>
              <a:tr h="1299953"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INDICADOR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QUE AVALIA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CÁLCULO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UNID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2025</a:t>
                      </a:r>
                      <a:endParaRPr lang="pt-BR" sz="2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2026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2027</a:t>
                      </a: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PADRONIZAÇÃO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Entrega de padrões metodológicos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Padrões publicados ÷ Padrões previstos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090133"/>
                  </a:ext>
                </a:extLst>
              </a:tr>
              <a:tr h="2414200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TREINAMENTOS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Entrega de conteúdo de treinamentos metodológicos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438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Treinamentos elaborados ÷ Treinamentos previstos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292245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GOVERNANÇA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Aderência às reuniões do pilar</a:t>
                      </a:r>
                    </a:p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(Reunião válida: Coordenador + 60% de membros)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Reuniões realizadas ÷ Reuniões previstas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466737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CRONOGRAMA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Atendimento ao cronograma de atividades do Pilar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/>
                          <a:ea typeface="Roboto"/>
                          <a:cs typeface="Roboto"/>
                        </a:rPr>
                        <a:t>Ações realizadas conforme planejado </a:t>
                      </a:r>
                      <a:r>
                        <a:rPr lang="pt-BR"/>
                        <a:t>÷</a:t>
                      </a:r>
                      <a:r>
                        <a:rPr lang="pt-BR" sz="2400">
                          <a:effectLst/>
                          <a:latin typeface="Roboto"/>
                          <a:ea typeface="Roboto"/>
                          <a:cs typeface="Roboto"/>
                        </a:rPr>
                        <a:t> Ações planejadas no período x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89876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AUDITORIAS DE MUDANÇA DE ETAPA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Acompanhamento e devolutivas à auditorias de mudança de etapa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Relatórios elaborados</a:t>
                      </a:r>
                      <a:r>
                        <a:rPr lang="pt-BR" sz="24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 ÷ Auditorias realizadas x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06426"/>
                  </a:ext>
                </a:extLst>
              </a:tr>
            </a:tbl>
          </a:graphicData>
        </a:graphic>
      </p:graphicFrame>
      <p:sp>
        <p:nvSpPr>
          <p:cNvPr id="2" name="BJPseudoFooter">
            <a:extLst>
              <a:ext uri="{FF2B5EF4-FFF2-40B4-BE49-F238E27FC236}">
                <a16:creationId xmlns:a16="http://schemas.microsoft.com/office/drawing/2014/main" id="{E83E6D5B-4DF8-C2D0-F510-FDCB966085B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9963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176F216EECD943AD612D627F07C02E" ma:contentTypeVersion="16" ma:contentTypeDescription="Create a new document." ma:contentTypeScope="" ma:versionID="37913c5216a24e7414db49c0f1fb1e54">
  <xsd:schema xmlns:xsd="http://www.w3.org/2001/XMLSchema" xmlns:xs="http://www.w3.org/2001/XMLSchema" xmlns:p="http://schemas.microsoft.com/office/2006/metadata/properties" xmlns:ns2="127a3897-ed4c-4826-8a6c-94d3406a8d6d" xmlns:ns3="cf2b92c1-a898-4550-bc40-7eb2dd1d90a8" targetNamespace="http://schemas.microsoft.com/office/2006/metadata/properties" ma:root="true" ma:fieldsID="dab1027dda4661eb8f47ea7caffc1aac" ns2:_="" ns3:_="">
    <xsd:import namespace="127a3897-ed4c-4826-8a6c-94d3406a8d6d"/>
    <xsd:import namespace="cf2b92c1-a898-4550-bc40-7eb2dd1d90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a3897-ed4c-4826-8a6c-94d3406a8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d8d8cb3-13e6-4a9b-b8ca-c05e8e45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b92c1-a898-4550-bc40-7eb2dd1d90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753cf45-de07-4b4e-adb5-ff0f4ef5cc6a}" ma:internalName="TaxCatchAll" ma:showField="CatchAllData" ma:web="cf2b92c1-a898-4550-bc40-7eb2dd1d9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2b92c1-a898-4550-bc40-7eb2dd1d90a8" xsi:nil="true"/>
    <lcf76f155ced4ddcb4097134ff3c332f xmlns="127a3897-ed4c-4826-8a6c-94d3406a8d6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sisl xmlns:xsd="http://www.w3.org/2001/XMLSchema" xmlns:xsi="http://www.w3.org/2001/XMLSchema-instance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C05248BB-727E-4EA2-A703-35221435541D}">
  <ds:schemaRefs>
    <ds:schemaRef ds:uri="127a3897-ed4c-4826-8a6c-94d3406a8d6d"/>
    <ds:schemaRef ds:uri="cf2b92c1-a898-4550-bc40-7eb2dd1d90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380AB0D-94BE-4CEB-918A-589467F4DFBC}">
  <ds:schemaRefs>
    <ds:schemaRef ds:uri="http://purl.org/dc/dcmitype/"/>
    <ds:schemaRef ds:uri="cf2b92c1-a898-4550-bc40-7eb2dd1d90a8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127a3897-ed4c-4826-8a6c-94d3406a8d6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B195812-9FD0-405A-AFA3-85753646485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8B61E44-5CF6-4D23-8CDC-275F971E03D8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76684a67-d816-43ce-93f9-29b6f72f823f}" enabled="0" method="" siteId="{76684a67-d816-43ce-93f9-29b6f72f82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972</Words>
  <Application>Microsoft Office PowerPoint</Application>
  <PresentationFormat>Personalizar</PresentationFormat>
  <Paragraphs>116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Helvetica Neue</vt:lpstr>
      <vt:lpstr>Helvetica Neue Light</vt:lpstr>
      <vt:lpstr>Helvetica Neue Medium</vt:lpstr>
      <vt:lpstr>Poppins</vt:lpstr>
      <vt:lpstr>Poppins Bold</vt:lpstr>
      <vt:lpstr>Roboto</vt:lpstr>
      <vt:lpstr>White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Cintia Rosanova Faccin</dc:creator>
  <cp:lastModifiedBy>Manuelly Dos Santos Morais</cp:lastModifiedBy>
  <cp:revision>2</cp:revision>
  <cp:lastPrinted>2026-02-26T17:32:27Z</cp:lastPrinted>
  <dcterms:modified xsi:type="dcterms:W3CDTF">2026-03-12T14:10:30Z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11857c42-a6dc-4328-a8fe-b2fb66f18439</vt:lpwstr>
  </property>
  <property fmtid="{D5CDD505-2E9C-101B-9397-08002B2CF9AE}" pid="3" name="bjSaver">
    <vt:lpwstr>jMPiftq7UvchF0wPKRvoKfTgW+2/X3E+</vt:lpwstr>
  </property>
  <property fmtid="{D5CDD505-2E9C-101B-9397-08002B2CF9AE}" pid="4" name="bjDocumentSecurityLabel">
    <vt:lpwstr>NÃO CLASSIFICADA</vt:lpwstr>
  </property>
  <property fmtid="{D5CDD505-2E9C-101B-9397-08002B2CF9AE}" pid="5" name="X-BJ-Classification">
    <vt:lpwstr>X-BJ-CLASSIFICATION-{Classificação}</vt:lpwstr>
  </property>
  <property fmtid="{D5CDD505-2E9C-101B-9397-08002B2CF9AE}" pid="6" name="ContentTypeId">
    <vt:lpwstr>0x010100FA176F216EECD943AD612D627F07C02E</vt:lpwstr>
  </property>
  <property fmtid="{D5CDD505-2E9C-101B-9397-08002B2CF9AE}" pid="7" name="bjClsUserRVM">
    <vt:lpwstr>[]</vt:lpwstr>
  </property>
  <property fmtid="{D5CDD505-2E9C-101B-9397-08002B2CF9AE}" pid="8" name="bjDocumentLabelXML">
    <vt:lpwstr>&lt;?xml version="1.0" encoding="us-ascii"?&gt;&lt;sisl xmlns:xsd="http://www.w3.org/2001/XMLSchema" xmlns:xsi="http://www.w3.org/2001/XMLSchema-instance" sislVersion="0" policy="06b056e2-7ddb-4f31-a510-f19fdcc3f692" origin="userSelected" xmlns="http://www.boldonj</vt:lpwstr>
  </property>
  <property fmtid="{D5CDD505-2E9C-101B-9397-08002B2CF9AE}" pid="9" name="bjDocumentLabelXML-0">
    <vt:lpwstr>ames.com/2008/01/sie/internal/label"&gt;&lt;element uid="id_classification_nonbusiness" value="" /&gt;&lt;/sisl&gt;</vt:lpwstr>
  </property>
  <property fmtid="{D5CDD505-2E9C-101B-9397-08002B2CF9AE}" pid="10" name="MediaServiceImageTags">
    <vt:lpwstr/>
  </property>
</Properties>
</file>